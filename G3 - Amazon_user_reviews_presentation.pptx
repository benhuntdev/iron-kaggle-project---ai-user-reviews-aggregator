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7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f27a2be9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f27a2be9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27a2be9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27a2be9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f27a2be9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f27a2be9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f27a2be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f27a2be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f27a2be9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f27a2be9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f27a2be9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f27a2be9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f27a2be9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f27a2be9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f27a2be9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f27a2be9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f27a2be9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f27a2be9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f27a2be9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f27a2be9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f27a2be9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f27a2be9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f27a2be9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f27a2be9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f27a2be9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f27a2be9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f27a2be9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f27a2be9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mazon-user-review-aggregator-project.lovable.app" TargetMode="External"/><Relationship Id="rId4" Type="http://schemas.openxmlformats.org/officeDocument/2006/relationships/hyperlink" Target="https://amazon-user-review-aggregator-project.lovable.app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81550" y="1953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820">
                <a:latin typeface="Roboto"/>
                <a:ea typeface="Roboto"/>
                <a:cs typeface="Roboto"/>
                <a:sym typeface="Roboto"/>
              </a:rPr>
              <a:t>Amazon AI </a:t>
            </a:r>
            <a:r>
              <a:rPr b="1" lang="en-GB" sz="2820">
                <a:latin typeface="Roboto"/>
                <a:ea typeface="Roboto"/>
                <a:cs typeface="Roboto"/>
                <a:sym typeface="Roboto"/>
              </a:rPr>
              <a:t>User Reviews Aggregator</a:t>
            </a:r>
            <a:endParaRPr b="1" sz="28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81550" y="2661025"/>
            <a:ext cx="8580900" cy="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434343"/>
                </a:solidFill>
                <a:highlight>
                  <a:srgbClr val="FFF2CC"/>
                </a:highlight>
              </a:rPr>
              <a:t>By Benjamin Hunt &amp; Edwin Santiago</a:t>
            </a:r>
            <a:endParaRPr>
              <a:solidFill>
                <a:srgbClr val="434343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latin typeface="Roboto"/>
                <a:ea typeface="Roboto"/>
                <a:cs typeface="Roboto"/>
                <a:sym typeface="Roboto"/>
              </a:rPr>
              <a:t>Why AI for user review aggregation</a:t>
            </a:r>
            <a:r>
              <a:rPr lang="en-GB" sz="2720">
                <a:latin typeface="Roboto Medium"/>
                <a:ea typeface="Roboto Medium"/>
                <a:cs typeface="Roboto Medium"/>
                <a:sym typeface="Roboto Medium"/>
              </a:rPr>
              <a:t>?</a:t>
            </a:r>
            <a:r>
              <a:rPr lang="en-GB" sz="262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sz="262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can we help businesses improve </a:t>
            </a: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their</a:t>
            </a: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products and services through the use of AI Sentiment Aggregation? </a:t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is it worth exploring? </a:t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                 </a:t>
            </a:r>
            <a:r>
              <a:rPr b="1" lang="en-GB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 1</a:t>
            </a: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                                   </a:t>
            </a:r>
            <a:r>
              <a:rPr b="1" lang="en-GB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 2  </a:t>
            </a: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                           </a:t>
            </a:r>
            <a:r>
              <a:rPr b="1" lang="en-GB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Model 3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TF-IDF + Sentence Embeddings  </a:t>
            </a:r>
            <a:r>
              <a:rPr lang="en-GB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→</a:t>
            </a:r>
            <a:r>
              <a:rPr b="1" lang="en-GB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b="1"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 SVM      </a:t>
            </a:r>
            <a:r>
              <a:rPr lang="en-GB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→      </a:t>
            </a:r>
            <a:r>
              <a:rPr b="1" lang="en-GB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Transformer Sentiment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Unsupervised                                         Supervised</a:t>
            </a:r>
            <a:endParaRPr b="1"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" name="Google Shape;62;p14"/>
          <p:cNvCxnSpPr/>
          <p:nvPr/>
        </p:nvCxnSpPr>
        <p:spPr>
          <a:xfrm>
            <a:off x="2859675" y="4281250"/>
            <a:ext cx="1427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622500" y="487100"/>
            <a:ext cx="189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Introducing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890550" y="1080850"/>
            <a:ext cx="7362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</a:t>
            </a:r>
            <a:r>
              <a:rPr lang="en-GB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Amazon User Review Aggregator! 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90750" y="1537200"/>
            <a:ext cx="7762500" cy="17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Goal</a:t>
            </a:r>
            <a:r>
              <a:rPr lang="en-GB" sz="1800">
                <a:solidFill>
                  <a:schemeClr val="dk1"/>
                </a:solidFill>
              </a:rPr>
              <a:t>: Compare Human vs AI reviews to guide decisions.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 sz="1800">
                <a:solidFill>
                  <a:schemeClr val="dk1"/>
                </a:solidFill>
              </a:rPr>
              <a:t>How</a:t>
            </a:r>
            <a:r>
              <a:rPr lang="en-GB" sz="1800">
                <a:solidFill>
                  <a:schemeClr val="dk1"/>
                </a:solidFill>
              </a:rPr>
              <a:t>?   See through user randomness and get </a:t>
            </a:r>
            <a:r>
              <a:rPr lang="en-GB" sz="1800">
                <a:solidFill>
                  <a:schemeClr val="dk1"/>
                </a:solidFill>
              </a:rPr>
              <a:t>straight</a:t>
            </a:r>
            <a:r>
              <a:rPr lang="en-GB" sz="1800">
                <a:solidFill>
                  <a:schemeClr val="dk1"/>
                </a:solidFill>
              </a:rPr>
              <a:t> to the point with our user review “sentiment” </a:t>
            </a:r>
            <a:r>
              <a:rPr lang="en-GB" sz="1800">
                <a:solidFill>
                  <a:schemeClr val="dk1"/>
                </a:solidFill>
              </a:rPr>
              <a:t>based</a:t>
            </a:r>
            <a:r>
              <a:rPr lang="en-GB" sz="1800">
                <a:solidFill>
                  <a:schemeClr val="dk1"/>
                </a:solidFill>
              </a:rPr>
              <a:t> AI aggregator by </a:t>
            </a:r>
            <a:r>
              <a:rPr lang="en-GB" sz="1800">
                <a:solidFill>
                  <a:schemeClr val="dk1"/>
                </a:solidFill>
              </a:rPr>
              <a:t>focusing the model on sentiment analysis. </a:t>
            </a:r>
            <a:r>
              <a:rPr lang="en-GB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18350" y="245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oboto"/>
                <a:ea typeface="Roboto"/>
                <a:cs typeface="Roboto"/>
                <a:sym typeface="Roboto"/>
              </a:rPr>
              <a:t>Our Story (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Methods)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18350" y="818300"/>
            <a:ext cx="8907300" cy="3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-GB" sz="1208">
                <a:solidFill>
                  <a:schemeClr val="dk1"/>
                </a:solidFill>
              </a:rPr>
              <a:t>Seeking</a:t>
            </a:r>
            <a:r>
              <a:rPr b="1" lang="en-GB" sz="1208">
                <a:solidFill>
                  <a:schemeClr val="dk1"/>
                </a:solidFill>
              </a:rPr>
              <a:t> ground: </a:t>
            </a:r>
            <a:r>
              <a:rPr lang="en-GB" sz="1208">
                <a:solidFill>
                  <a:schemeClr val="dk1"/>
                </a:solidFill>
              </a:rPr>
              <a:t> Studying data and deep preprocessing of Amazon u</a:t>
            </a:r>
            <a:r>
              <a:rPr lang="en-GB" sz="1208">
                <a:solidFill>
                  <a:schemeClr val="dk1"/>
                </a:solidFill>
              </a:rPr>
              <a:t>ser reviews. 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208">
                <a:solidFill>
                  <a:schemeClr val="dk1"/>
                </a:solidFill>
              </a:rPr>
              <a:t>Assessing</a:t>
            </a:r>
            <a:r>
              <a:rPr lang="en-GB" sz="1208">
                <a:solidFill>
                  <a:schemeClr val="dk1"/>
                </a:solidFill>
              </a:rPr>
              <a:t> (Negative/Neutral/Positive) Reviews. 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208">
                <a:solidFill>
                  <a:schemeClr val="dk1"/>
                </a:solidFill>
              </a:rPr>
              <a:t>Finding Ground: </a:t>
            </a:r>
            <a:r>
              <a:rPr lang="en-GB" sz="1208">
                <a:solidFill>
                  <a:schemeClr val="dk1"/>
                </a:solidFill>
              </a:rPr>
              <a:t>Starting with a simple TF-IDF sentiment baseline to set a quick benchmark and expose common failure cases, though un-supervised learning </a:t>
            </a:r>
            <a:r>
              <a:rPr lang="en-GB" sz="1208">
                <a:solidFill>
                  <a:schemeClr val="dk1"/>
                </a:solidFill>
              </a:rPr>
              <a:t>clustering</a:t>
            </a:r>
            <a:r>
              <a:rPr lang="en-GB" sz="1208">
                <a:solidFill>
                  <a:schemeClr val="dk1"/>
                </a:solidFill>
              </a:rPr>
              <a:t> sentiment data. </a:t>
            </a:r>
            <a:r>
              <a:rPr lang="en-GB" sz="1208">
                <a:solidFill>
                  <a:schemeClr val="dk1"/>
                </a:solidFill>
              </a:rPr>
              <a:t>→ </a:t>
            </a:r>
            <a:r>
              <a:rPr lang="en-GB" sz="1208">
                <a:solidFill>
                  <a:schemeClr val="dk1"/>
                </a:solidFill>
              </a:rPr>
              <a:t> </a:t>
            </a:r>
            <a:r>
              <a:rPr b="1" lang="en-GB" sz="1208">
                <a:solidFill>
                  <a:schemeClr val="dk1"/>
                </a:solidFill>
              </a:rPr>
              <a:t>Model </a:t>
            </a:r>
            <a:r>
              <a:rPr lang="en-GB" sz="1208">
                <a:solidFill>
                  <a:schemeClr val="dk1"/>
                </a:solidFill>
              </a:rPr>
              <a:t>Macro F1: 0.36  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208">
                <a:solidFill>
                  <a:schemeClr val="dk1"/>
                </a:solidFill>
              </a:rPr>
              <a:t>Sharpening sentiment edges: </a:t>
            </a:r>
            <a:r>
              <a:rPr lang="en-GB" sz="1208">
                <a:solidFill>
                  <a:schemeClr val="dk1"/>
                </a:solidFill>
              </a:rPr>
              <a:t> Embedded reviews and clustered them to surface themes and compare how humans vs AI talk about products.  </a:t>
            </a:r>
            <a:r>
              <a:rPr lang="en-GB" sz="1208">
                <a:solidFill>
                  <a:schemeClr val="dk1"/>
                </a:solidFill>
              </a:rPr>
              <a:t>→  </a:t>
            </a:r>
            <a:r>
              <a:rPr b="1" lang="en-GB" sz="1208">
                <a:solidFill>
                  <a:schemeClr val="dk1"/>
                </a:solidFill>
              </a:rPr>
              <a:t>Model </a:t>
            </a:r>
            <a:r>
              <a:rPr lang="en-GB" sz="1208">
                <a:solidFill>
                  <a:schemeClr val="dk1"/>
                </a:solidFill>
              </a:rPr>
              <a:t> Macro F1:0.42 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208">
                <a:solidFill>
                  <a:schemeClr val="dk1"/>
                </a:solidFill>
              </a:rPr>
              <a:t>Exploring Deeper Generalization</a:t>
            </a:r>
            <a:r>
              <a:rPr lang="en-GB" sz="1208">
                <a:solidFill>
                  <a:schemeClr val="dk1"/>
                </a:solidFill>
              </a:rPr>
              <a:t>: Next we upgraded to a Linear SVM model for stronger classical NLP sentiment prediction and more stable generalization. 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GB" sz="1208">
                <a:solidFill>
                  <a:schemeClr val="dk1"/>
                </a:solidFill>
              </a:rPr>
              <a:t>The land is ours!:</a:t>
            </a:r>
            <a:r>
              <a:rPr lang="en-GB" sz="1208">
                <a:solidFill>
                  <a:schemeClr val="dk1"/>
                </a:solidFill>
              </a:rPr>
              <a:t> Finally we fine-tuned key t</a:t>
            </a:r>
            <a:r>
              <a:rPr lang="en-GB" sz="1208">
                <a:solidFill>
                  <a:schemeClr val="dk1"/>
                </a:solidFill>
              </a:rPr>
              <a:t>ransformer</a:t>
            </a:r>
            <a:r>
              <a:rPr lang="en-GB" sz="1208">
                <a:solidFill>
                  <a:schemeClr val="dk1"/>
                </a:solidFill>
              </a:rPr>
              <a:t> model to capture context and nuance, giving our best end-to-end sentiment performance for deployment. → </a:t>
            </a:r>
            <a:r>
              <a:rPr b="1" lang="en-GB" sz="1208">
                <a:solidFill>
                  <a:schemeClr val="dk1"/>
                </a:solidFill>
              </a:rPr>
              <a:t>Model</a:t>
            </a:r>
            <a:r>
              <a:rPr lang="en-GB" sz="1208">
                <a:solidFill>
                  <a:schemeClr val="dk1"/>
                </a:solidFill>
              </a:rPr>
              <a:t> Accuracy: 0.91! Macro F1: 52 </a:t>
            </a:r>
            <a:endParaRPr sz="120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7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87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32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1" lang="en-GB" sz="2320">
                <a:latin typeface="Roboto"/>
                <a:ea typeface="Roboto"/>
                <a:cs typeface="Roboto"/>
                <a:sym typeface="Roboto"/>
              </a:rPr>
              <a:t>TF-IDF- K-Means &amp; GMM classifier - “</a:t>
            </a:r>
            <a:r>
              <a:rPr lang="en-GB" sz="2320">
                <a:latin typeface="Roboto"/>
                <a:ea typeface="Roboto"/>
                <a:cs typeface="Roboto"/>
                <a:sym typeface="Roboto"/>
              </a:rPr>
              <a:t>unsupervised</a:t>
            </a:r>
            <a:r>
              <a:rPr b="1" lang="en-GB" sz="2320">
                <a:latin typeface="Roboto"/>
                <a:ea typeface="Roboto"/>
                <a:cs typeface="Roboto"/>
                <a:sym typeface="Roboto"/>
              </a:rPr>
              <a:t>”</a:t>
            </a:r>
            <a:endParaRPr b="1" sz="23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833750" y="1254300"/>
            <a:ext cx="7998600" cy="30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Goal:</a:t>
            </a:r>
            <a:r>
              <a:rPr lang="en-GB" sz="1600">
                <a:solidFill>
                  <a:schemeClr val="dk1"/>
                </a:solidFill>
              </a:rPr>
              <a:t> Explore sentiment patterns </a:t>
            </a:r>
            <a:r>
              <a:rPr b="1" lang="en-GB" sz="1600">
                <a:solidFill>
                  <a:schemeClr val="dk1"/>
                </a:solidFill>
              </a:rPr>
              <a:t>without using labels</a:t>
            </a:r>
            <a:r>
              <a:rPr lang="en-GB" sz="1600">
                <a:solidFill>
                  <a:schemeClr val="dk1"/>
                </a:solidFill>
              </a:rPr>
              <a:t> (no star ratings needed).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Method:</a:t>
            </a:r>
            <a:r>
              <a:rPr lang="en-GB" sz="1600">
                <a:solidFill>
                  <a:schemeClr val="dk1"/>
                </a:solidFill>
              </a:rPr>
              <a:t> convert each review into a </a:t>
            </a:r>
            <a:r>
              <a:rPr b="1" lang="en-GB" sz="1600">
                <a:solidFill>
                  <a:schemeClr val="dk1"/>
                </a:solidFill>
              </a:rPr>
              <a:t>meaning vector (sentence embeddings)</a:t>
            </a:r>
            <a:r>
              <a:rPr lang="en-GB" sz="1600">
                <a:solidFill>
                  <a:schemeClr val="dk1"/>
                </a:solidFill>
              </a:rPr>
              <a:t>, then </a:t>
            </a:r>
            <a:r>
              <a:rPr b="1" lang="en-GB" sz="1600">
                <a:solidFill>
                  <a:schemeClr val="dk1"/>
                </a:solidFill>
              </a:rPr>
              <a:t>cluster</a:t>
            </a:r>
            <a:r>
              <a:rPr lang="en-GB" sz="1600">
                <a:solidFill>
                  <a:schemeClr val="dk1"/>
                </a:solidFill>
              </a:rPr>
              <a:t> similar reviews together (e.g., GMM).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Why we did it:</a:t>
            </a:r>
            <a:r>
              <a:rPr lang="en-GB" sz="1600">
                <a:solidFill>
                  <a:schemeClr val="dk1"/>
                </a:solidFill>
              </a:rPr>
              <a:t> to see whether sentiment and themes </a:t>
            </a:r>
            <a:r>
              <a:rPr b="1" lang="en-GB" sz="1600">
                <a:solidFill>
                  <a:schemeClr val="dk1"/>
                </a:solidFill>
              </a:rPr>
              <a:t>naturally separate</a:t>
            </a:r>
            <a:r>
              <a:rPr lang="en-GB" sz="1600">
                <a:solidFill>
                  <a:schemeClr val="dk1"/>
                </a:solidFill>
              </a:rPr>
              <a:t> on their own, and to understand how the model “organizes” opinions.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What we found: </a:t>
            </a:r>
            <a:r>
              <a:rPr lang="en-GB" sz="1600">
                <a:solidFill>
                  <a:schemeClr val="dk1"/>
                </a:solidFill>
              </a:rPr>
              <a:t>Global </a:t>
            </a:r>
            <a:r>
              <a:rPr lang="en-GB" sz="1600">
                <a:solidFill>
                  <a:schemeClr val="dk1"/>
                </a:solidFill>
              </a:rPr>
              <a:t>clustering</a:t>
            </a:r>
            <a:r>
              <a:rPr lang="en-GB" sz="1600">
                <a:solidFill>
                  <a:schemeClr val="dk1"/>
                </a:solidFill>
              </a:rPr>
              <a:t> sentiment created</a:t>
            </a:r>
            <a:r>
              <a:rPr b="1" lang="en-GB" sz="1600">
                <a:solidFill>
                  <a:schemeClr val="dk1"/>
                </a:solidFill>
              </a:rPr>
              <a:t> </a:t>
            </a:r>
            <a:r>
              <a:rPr lang="en-GB" sz="1600">
                <a:solidFill>
                  <a:schemeClr val="dk1"/>
                </a:solidFill>
              </a:rPr>
              <a:t>too much</a:t>
            </a:r>
            <a:r>
              <a:rPr b="1" lang="en-GB" sz="1600">
                <a:solidFill>
                  <a:schemeClr val="dk1"/>
                </a:solidFill>
              </a:rPr>
              <a:t> noise </a:t>
            </a:r>
            <a:r>
              <a:rPr lang="en-GB" sz="1600">
                <a:solidFill>
                  <a:schemeClr val="dk1"/>
                </a:solidFill>
              </a:rPr>
              <a:t>in the data</a:t>
            </a:r>
            <a:r>
              <a:rPr b="1" lang="en-GB" sz="1600">
                <a:solidFill>
                  <a:schemeClr val="dk1"/>
                </a:solidFill>
              </a:rPr>
              <a:t>, </a:t>
            </a:r>
            <a:r>
              <a:rPr lang="en-GB" sz="1600">
                <a:solidFill>
                  <a:schemeClr val="dk1"/>
                </a:solidFill>
              </a:rPr>
              <a:t>The same when clustering </a:t>
            </a:r>
            <a:r>
              <a:rPr lang="en-GB" sz="1600">
                <a:solidFill>
                  <a:schemeClr val="dk1"/>
                </a:solidFill>
              </a:rPr>
              <a:t>based</a:t>
            </a:r>
            <a:r>
              <a:rPr lang="en-GB" sz="1600">
                <a:solidFill>
                  <a:schemeClr val="dk1"/>
                </a:solidFill>
              </a:rPr>
              <a:t> on product sentiment</a:t>
            </a:r>
            <a:r>
              <a:rPr b="1" lang="en-GB" sz="1600">
                <a:solidFill>
                  <a:schemeClr val="dk1"/>
                </a:solidFill>
              </a:rPr>
              <a:t>.  </a:t>
            </a:r>
            <a:r>
              <a:rPr lang="en-GB" sz="1600">
                <a:solidFill>
                  <a:schemeClr val="dk1"/>
                </a:solidFill>
              </a:rPr>
              <a:t>F1 Macro is very low.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320">
                <a:latin typeface="Roboto"/>
                <a:ea typeface="Roboto"/>
                <a:cs typeface="Roboto"/>
                <a:sym typeface="Roboto"/>
              </a:rPr>
              <a:t>An unsupervised</a:t>
            </a:r>
            <a:r>
              <a:rPr lang="en-GB" sz="2320">
                <a:latin typeface="Roboto"/>
                <a:ea typeface="Roboto"/>
                <a:cs typeface="Roboto"/>
                <a:sym typeface="Roboto"/>
              </a:rPr>
              <a:t> # </a:t>
            </a:r>
            <a:r>
              <a:rPr b="1" lang="en-GB" sz="2320">
                <a:latin typeface="Roboto"/>
                <a:ea typeface="Roboto"/>
                <a:cs typeface="Roboto"/>
                <a:sym typeface="Roboto"/>
              </a:rPr>
              <a:t>Evaluation!</a:t>
            </a:r>
            <a:endParaRPr b="1"/>
          </a:p>
        </p:txBody>
      </p:sp>
      <p:pic>
        <p:nvPicPr>
          <p:cNvPr id="87" name="Google Shape;87;p18" title="Screenshot 2026-02-20 1929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50" y="461900"/>
            <a:ext cx="8880427" cy="459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92075" y="4235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No More Unsupervised Clustering!</a:t>
            </a:r>
            <a:endParaRPr b="1"/>
          </a:p>
        </p:txBody>
      </p:sp>
      <p:pic>
        <p:nvPicPr>
          <p:cNvPr id="93" name="Google Shape;93;p19" title="unsupervised_gmm_vs_kmeans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425" y="218750"/>
            <a:ext cx="6847898" cy="381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14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Model 2</a:t>
            </a:r>
            <a:r>
              <a:rPr lang="en-GB"/>
              <a:t> - Product Meta Category Clustering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799925"/>
            <a:ext cx="8520600" cy="3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Problem: Product categories were sparse and highly fragmented, limiting interpretability.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Objective: Group products into 4-6 meaningful meta-categories.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Trained TF-IDF + class-weighted Linear SVM for sentiment classification.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Aggregated reviews per product to compute sentiment distribution and average rating.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Generated MiniLM embeddings and applied KMeans (k = 4) to form coherent meta-categories.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Model 2</a:t>
            </a:r>
            <a:r>
              <a:rPr lang="en-GB"/>
              <a:t> Evaluation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Linear SVM </a:t>
            </a:r>
            <a:r>
              <a:rPr lang="en-GB"/>
              <a:t>achieved -95% accuracy (Weighted F1 = 0.95), showing strong sentiment classification performance.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Clustering showed moderate separation (Silhouette =0.16), indicating best separation among tested values.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Meta - categories were semantically coherent after manual inspection and UMAP/PCA visualization.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Controlled LLM summaries evaluated with ROUGUE low overlap due to paraphrasing rather than poor quality.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266900" y="13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b="1" lang="en-GB"/>
              <a:t>DeBERTa.v3</a:t>
            </a:r>
            <a:r>
              <a:rPr lang="en-GB"/>
              <a:t> - “Supervised” Sentiment Analysis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2758400" y="711575"/>
            <a:ext cx="3537600" cy="452100"/>
          </a:xfrm>
          <a:prstGeom prst="rect">
            <a:avLst/>
          </a:prstGeom>
          <a:solidFill>
            <a:srgbClr val="FFF6DA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Our Winning Model!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380900" y="1163675"/>
            <a:ext cx="7758600" cy="3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Used LoRA for fine tuning labeled data.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Excellent sentiment (sentence) focused handling for Neutral, Positive and Negative </a:t>
            </a:r>
            <a:r>
              <a:rPr lang="en-GB" sz="1700">
                <a:solidFill>
                  <a:schemeClr val="dk1"/>
                </a:solidFill>
              </a:rPr>
              <a:t>reviews! Macro F1 = </a:t>
            </a:r>
            <a:r>
              <a:rPr b="1" lang="en-GB" sz="1700">
                <a:solidFill>
                  <a:schemeClr val="dk1"/>
                </a:solidFill>
              </a:rPr>
              <a:t>0.51</a:t>
            </a:r>
            <a:r>
              <a:rPr lang="en-GB" sz="1700">
                <a:solidFill>
                  <a:schemeClr val="dk1"/>
                </a:solidFill>
              </a:rPr>
              <a:t> (Fairest overall sentiment handling)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Reads the </a:t>
            </a:r>
            <a:r>
              <a:rPr b="1" lang="en-GB" sz="1700">
                <a:solidFill>
                  <a:schemeClr val="dk1"/>
                </a:solidFill>
              </a:rPr>
              <a:t>whole sentence,</a:t>
            </a:r>
            <a:r>
              <a:rPr lang="en-GB" sz="1700">
                <a:solidFill>
                  <a:schemeClr val="dk1"/>
                </a:solidFill>
              </a:rPr>
              <a:t> not just each word. 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Pointed in the right direction form labeled examples and avoids </a:t>
            </a:r>
            <a:r>
              <a:rPr b="1" lang="en-GB" sz="1700">
                <a:solidFill>
                  <a:schemeClr val="dk1"/>
                </a:solidFill>
              </a:rPr>
              <a:t>most</a:t>
            </a:r>
            <a:r>
              <a:rPr lang="en-GB" sz="1700">
                <a:solidFill>
                  <a:schemeClr val="dk1"/>
                </a:solidFill>
              </a:rPr>
              <a:t> sentiment mismatch noise!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75" y="3837825"/>
            <a:ext cx="2916200" cy="1128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111" y="3814900"/>
            <a:ext cx="2975215" cy="11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8850" y="3814900"/>
            <a:ext cx="2975136" cy="11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D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9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Transformer </a:t>
            </a:r>
            <a:r>
              <a:rPr b="1" lang="en-GB"/>
              <a:t>Evaluation</a:t>
            </a:r>
            <a:endParaRPr b="1"/>
          </a:p>
        </p:txBody>
      </p:sp>
      <p:pic>
        <p:nvPicPr>
          <p:cNvPr id="121" name="Google Shape;121;p23" title="final_model_vs_previous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25" y="870775"/>
            <a:ext cx="7936865" cy="404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Final </a:t>
            </a:r>
            <a:r>
              <a:rPr b="1" lang="en-GB"/>
              <a:t>Takeaways</a:t>
            </a:r>
            <a:endParaRPr b="1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Classical models don’t have the sentiment </a:t>
            </a:r>
            <a:r>
              <a:rPr lang="en-GB">
                <a:solidFill>
                  <a:schemeClr val="dk1"/>
                </a:solidFill>
              </a:rPr>
              <a:t>analysis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capabilities</a:t>
            </a:r>
            <a:r>
              <a:rPr lang="en-GB">
                <a:solidFill>
                  <a:schemeClr val="dk1"/>
                </a:solidFill>
              </a:rPr>
              <a:t> like modern </a:t>
            </a:r>
            <a:r>
              <a:rPr lang="en-GB">
                <a:solidFill>
                  <a:schemeClr val="dk1"/>
                </a:solidFill>
              </a:rPr>
              <a:t>transformers.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Unsupervised clustering does not necessarily equal sentiment, even when applying more clustering.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AI is roughly 11-12 % stricter than humans on reviews </a:t>
            </a:r>
            <a:r>
              <a:rPr lang="en-GB">
                <a:solidFill>
                  <a:schemeClr val="dk1"/>
                </a:solidFill>
              </a:rPr>
              <a:t>based</a:t>
            </a:r>
            <a:r>
              <a:rPr lang="en-GB">
                <a:solidFill>
                  <a:schemeClr val="dk1"/>
                </a:solidFill>
              </a:rPr>
              <a:t> on human sentiment alone.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Macro F1 told the truth!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Sentiment models need </a:t>
            </a:r>
            <a:r>
              <a:rPr lang="en-GB">
                <a:solidFill>
                  <a:schemeClr val="dk1"/>
                </a:solidFill>
              </a:rPr>
              <a:t>supervised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direction</a:t>
            </a:r>
            <a:r>
              <a:rPr lang="en-GB">
                <a:solidFill>
                  <a:schemeClr val="dk1"/>
                </a:solidFill>
              </a:rPr>
              <a:t> to </a:t>
            </a:r>
            <a:r>
              <a:rPr lang="en-GB">
                <a:solidFill>
                  <a:schemeClr val="dk1"/>
                </a:solidFill>
              </a:rPr>
              <a:t>appropriately</a:t>
            </a:r>
            <a:r>
              <a:rPr lang="en-GB">
                <a:solidFill>
                  <a:schemeClr val="dk1"/>
                </a:solidFill>
              </a:rPr>
              <a:t> understand sentiment handling.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/>
        </p:nvSpPr>
        <p:spPr>
          <a:xfrm>
            <a:off x="2383450" y="1761875"/>
            <a:ext cx="4755000" cy="12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</a:rPr>
              <a:t>DEMO </a:t>
            </a:r>
            <a:endParaRPr b="1" sz="5000">
              <a:solidFill>
                <a:schemeClr val="dk1"/>
              </a:solidFill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181550" y="2790650"/>
            <a:ext cx="67809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highlight>
                  <a:srgbClr val="FFF2CC"/>
                </a:highlight>
              </a:rPr>
              <a:t>Website:</a:t>
            </a:r>
            <a:r>
              <a:rPr b="1" lang="en-GB" sz="1800">
                <a:solidFill>
                  <a:schemeClr val="dk2"/>
                </a:solidFill>
              </a:rPr>
              <a:t>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h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ttps://amazon-user-review-aggregator-project.lovable.app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2382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820"/>
              <a:t>Questions?</a:t>
            </a:r>
            <a:endParaRPr b="1" sz="3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